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dd644e8f-8761-5261-cf15-7a689833c69d}">
          <p14:sldIdLst>
            <p14:sldId id="256"/>
          </p14:sldIdLst>
        </p14:section>
        <p14:section name="Identity and network" id="{0d67e42c-1183-0b75-614a-885ba06c4706}">
          <p14:sldIdLst>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VM held a Docker volume with the market cache, sentiment history and a SQLite file, plus the Firebase Admin key that the app used to reach Firestore. After: the VM holds two compose files. Data is in Cloud SQL (private IP only), files in a private bucket, secrets in Secret Manager, and the image in Artifact Registry. 39 of 39 rows were copied from Firestore and every table matches. Deleting the VM now costs only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team's IPs reach the VM, on ports 80 and 22, through the static IP. The VM sits in the default VPC subnet 10.128.0.0/20 and runs as a dedicated service account, mahokshahvata-vm, with no key file. Cloud SQL lives in the private services access range 10.27.48.0/20, peered into our VPC; its only address is the private IP 10.27.48.3, with TLS required. The service account can read exactly two secrets, write to one bucket, pull from one repository, and write logs and metrics. It has no project Editor role, no Cloud SQL role (the app connects with the database password over the private IP), and it cannot read the database admin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Mahokshahvata · Milestone 4 · project-262a2026-879b-4b49-88e · us-central1</a:t>
            </a:r>
            <a:endParaRPr lang="en-US" sz="10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t"/>
          <a:lstStyle/>
          <a:p>
            <a:pPr indent="0" marL="0">
              <a:buNone/>
            </a:pPr>
            <a:r>
              <a:rPr lang="en-US" sz="3200" b="1" dirty="0">
                <a:solidFill>
                  <a:schemeClr val="tx1"/>
                </a:solidFill>
              </a:rPr>
              <a:t>Where state lives: Milestone 3 vs Milestone 4</a:t>
            </a:r>
            <a:endParaRPr lang="en-US" sz="3200" dirty="0"/>
          </a:p>
        </p:txBody>
      </p:sp>
      <p:sp>
        <p:nvSpPr>
          <p:cNvPr id="3" name="text-1"/>
          <p:cNvSpPr txBox="1"/>
          <p:nvPr/>
        </p:nvSpPr>
        <p:spPr>
          <a:xfrm>
            <a:off x="457200" y="1097280"/>
            <a:ext cx="5394960" cy="320040"/>
          </a:xfrm>
          <a:prstGeom prst="rect">
            <a:avLst/>
          </a:prstGeom>
          <a:noFill/>
          <a:ln/>
        </p:spPr>
        <p:txBody>
          <a:bodyPr wrap="square" lIns="0" tIns="0" rIns="0" bIns="0" rtlCol="0" anchor="t"/>
          <a:lstStyle/>
          <a:p>
            <a:pPr algn="l" indent="0" marL="0">
              <a:buNone/>
            </a:pPr>
            <a:r>
              <a:rPr lang="en-US" sz="1400" b="1" dirty="0">
                <a:solidFill>
                  <a:schemeClr val="accent2"/>
                </a:solidFill>
              </a:rPr>
              <a:t>BEFORE · Milestone 3</a:t>
            </a:r>
            <a:endParaRPr lang="en-US" sz="1400" dirty="0"/>
          </a:p>
        </p:txBody>
      </p:sp>
      <p:sp>
        <p:nvSpPr>
          <p:cNvPr id="4" name="shape-2"/>
          <p:cNvSpPr/>
          <p:nvPr/>
        </p:nvSpPr>
        <p:spPr>
          <a:xfrm>
            <a:off x="457200" y="1463040"/>
            <a:ext cx="5394960" cy="3657600"/>
          </a:xfrm>
          <a:prstGeom prst="roundRect">
            <a:avLst>
              <a:gd name="adj" fmla="val 3000"/>
            </a:avLst>
          </a:prstGeom>
          <a:solidFill>
            <a:schemeClr val="bg2"/>
          </a:solidFill>
          <a:ln w="12700">
            <a:solidFill>
              <a:schemeClr val="accent6"/>
            </a:solidFill>
            <a:prstDash val="solid"/>
          </a:ln>
        </p:spPr>
      </p:sp>
      <p:sp>
        <p:nvSpPr>
          <p:cNvPr id="5" name="shape-3"/>
          <p:cNvSpPr/>
          <p:nvPr/>
        </p:nvSpPr>
        <p:spPr>
          <a:xfrm>
            <a:off x="685800" y="1645920"/>
            <a:ext cx="3063240" cy="3291840"/>
          </a:xfrm>
          <a:prstGeom prst="roundRect">
            <a:avLst>
              <a:gd name="adj" fmla="val 2388"/>
            </a:avLst>
          </a:prstGeom>
          <a:solidFill>
            <a:schemeClr val="accent6"/>
          </a:solidFill>
          <a:ln w="19050">
            <a:solidFill>
              <a:schemeClr val="accent3"/>
            </a:solidFill>
            <a:prstDash val="solid"/>
          </a:ln>
        </p:spPr>
      </p:sp>
      <p:sp>
        <p:nvSpPr>
          <p:cNvPr id="6" name="text-4"/>
          <p:cNvSpPr txBox="1"/>
          <p:nvPr/>
        </p:nvSpPr>
        <p:spPr>
          <a:xfrm>
            <a:off x="777240" y="1691640"/>
            <a:ext cx="2834640" cy="320040"/>
          </a:xfrm>
          <a:prstGeom prst="rect">
            <a:avLst/>
          </a:prstGeom>
          <a:noFill/>
          <a:ln/>
        </p:spPr>
        <p:txBody>
          <a:bodyPr wrap="square" lIns="762" tIns="762" rIns="762" bIns="762" rtlCol="0" anchor="t"/>
          <a:lstStyle/>
          <a:p>
            <a:pPr algn="l" indent="0" marL="0">
              <a:buNone/>
            </a:pPr>
            <a:r>
              <a:rPr lang="en-US" sz="1400" b="1" dirty="0">
                <a:solidFill>
                  <a:schemeClr val="accent3"/>
                </a:solidFill>
              </a:rPr>
              <a:t>VM (e2-micro)</a:t>
            </a:r>
            <a:endParaRPr lang="en-US" sz="1400" dirty="0"/>
          </a:p>
        </p:txBody>
      </p:sp>
      <p:sp>
        <p:nvSpPr>
          <p:cNvPr id="7" name="shape-5"/>
          <p:cNvSpPr/>
          <p:nvPr/>
        </p:nvSpPr>
        <p:spPr>
          <a:xfrm>
            <a:off x="822960" y="2103120"/>
            <a:ext cx="2788920" cy="713232"/>
          </a:xfrm>
          <a:prstGeom prst="roundRect">
            <a:avLst>
              <a:gd name="adj" fmla="val 10256"/>
            </a:avLst>
          </a:prstGeom>
          <a:solidFill>
            <a:schemeClr val="bg1"/>
          </a:solidFill>
          <a:ln w="12700">
            <a:solidFill>
              <a:schemeClr val="accent2"/>
            </a:solidFill>
            <a:prstDash val="solid"/>
          </a:ln>
        </p:spPr>
      </p:sp>
      <p:sp>
        <p:nvSpPr>
          <p:cNvPr id="8" name="text-6"/>
          <p:cNvSpPr txBox="1"/>
          <p:nvPr/>
        </p:nvSpPr>
        <p:spPr>
          <a:xfrm>
            <a:off x="896112" y="2148840"/>
            <a:ext cx="2642616" cy="640080"/>
          </a:xfrm>
          <a:prstGeom prst="rect">
            <a:avLst/>
          </a:prstGeom>
          <a:noFill/>
          <a:ln/>
        </p:spPr>
        <p:txBody>
          <a:bodyPr wrap="square" lIns="762" tIns="762" rIns="762" bIns="762" rtlCol="0" anchor="t"/>
          <a:lstStyle/>
          <a:p>
            <a:pPr algn="l" indent="0" marL="0">
              <a:buNone/>
            </a:pPr>
            <a:r>
              <a:rPr lang="en-US" sz="1300" b="1" dirty="0">
                <a:solidFill>
                  <a:schemeClr val="accent2"/>
                </a:solidFill>
              </a:rPr>
              <a:t>Docker volume on the VM disk</a:t>
            </a:r>
            <a:endParaRPr lang="en-US" sz="1300" dirty="0"/>
          </a:p>
          <a:p>
            <a:pPr algn="l" indent="0" marL="0">
              <a:buNone/>
            </a:pPr>
            <a:r>
              <a:rPr lang="en-US" sz="1100" dirty="0">
                <a:solidFill>
                  <a:schemeClr val="tx2"/>
                </a:solidFill>
              </a:rPr>
              <a:t>market cache · sentiment history · politician SQLite</a:t>
            </a:r>
            <a:endParaRPr lang="en-US" sz="1300" dirty="0"/>
          </a:p>
        </p:txBody>
      </p:sp>
      <p:sp>
        <p:nvSpPr>
          <p:cNvPr id="9" name="shape-7"/>
          <p:cNvSpPr/>
          <p:nvPr/>
        </p:nvSpPr>
        <p:spPr>
          <a:xfrm>
            <a:off x="822960" y="2926080"/>
            <a:ext cx="2788920" cy="713232"/>
          </a:xfrm>
          <a:prstGeom prst="roundRect">
            <a:avLst>
              <a:gd name="adj" fmla="val 10256"/>
            </a:avLst>
          </a:prstGeom>
          <a:solidFill>
            <a:schemeClr val="bg1"/>
          </a:solidFill>
          <a:ln w="12700">
            <a:solidFill>
              <a:schemeClr val="accent2"/>
            </a:solidFill>
            <a:prstDash val="solid"/>
          </a:ln>
        </p:spPr>
      </p:sp>
      <p:sp>
        <p:nvSpPr>
          <p:cNvPr id="10" name="text-8"/>
          <p:cNvSpPr txBox="1"/>
          <p:nvPr/>
        </p:nvSpPr>
        <p:spPr>
          <a:xfrm>
            <a:off x="896112" y="2971800"/>
            <a:ext cx="2642616" cy="640080"/>
          </a:xfrm>
          <a:prstGeom prst="rect">
            <a:avLst/>
          </a:prstGeom>
          <a:noFill/>
          <a:ln/>
        </p:spPr>
        <p:txBody>
          <a:bodyPr wrap="square" lIns="762" tIns="762" rIns="762" bIns="762" rtlCol="0" anchor="t"/>
          <a:lstStyle/>
          <a:p>
            <a:pPr algn="l" indent="0" marL="0">
              <a:buNone/>
            </a:pPr>
            <a:r>
              <a:rPr lang="en-US" sz="1300" b="1" dirty="0">
                <a:solidFill>
                  <a:schemeClr val="accent2"/>
                </a:solidFill>
              </a:rPr>
              <a:t>Firebase Admin key file</a:t>
            </a:r>
            <a:endParaRPr lang="en-US" sz="1300" dirty="0"/>
          </a:p>
          <a:p>
            <a:pPr algn="l" indent="0" marL="0">
              <a:buNone/>
            </a:pPr>
            <a:r>
              <a:rPr lang="en-US" sz="1100" dirty="0">
                <a:solidFill>
                  <a:schemeClr val="tx2"/>
                </a:solidFill>
              </a:rPr>
              <a:t>/opt/mahokshahvata/firebase-admin.json</a:t>
            </a:r>
            <a:endParaRPr lang="en-US" sz="1300" dirty="0"/>
          </a:p>
        </p:txBody>
      </p:sp>
      <p:sp>
        <p:nvSpPr>
          <p:cNvPr id="11" name="shape-9"/>
          <p:cNvSpPr/>
          <p:nvPr/>
        </p:nvSpPr>
        <p:spPr>
          <a:xfrm>
            <a:off x="822960" y="3749040"/>
            <a:ext cx="2788920" cy="713232"/>
          </a:xfrm>
          <a:prstGeom prst="roundRect">
            <a:avLst>
              <a:gd name="adj" fmla="val 10256"/>
            </a:avLst>
          </a:prstGeom>
          <a:solidFill>
            <a:schemeClr val="bg1"/>
          </a:solidFill>
          <a:ln w="12700">
            <a:solidFill>
              <a:schemeClr val="accent3"/>
            </a:solidFill>
            <a:prstDash val="solid"/>
          </a:ln>
        </p:spPr>
      </p:sp>
      <p:sp>
        <p:nvSpPr>
          <p:cNvPr id="12" name="text-10"/>
          <p:cNvSpPr txBox="1"/>
          <p:nvPr/>
        </p:nvSpPr>
        <p:spPr>
          <a:xfrm>
            <a:off x="896112" y="3794760"/>
            <a:ext cx="2642616" cy="640080"/>
          </a:xfrm>
          <a:prstGeom prst="rect">
            <a:avLst/>
          </a:prstGeom>
          <a:noFill/>
          <a:ln/>
        </p:spPr>
        <p:txBody>
          <a:bodyPr wrap="square" lIns="762" tIns="762" rIns="762" bIns="762" rtlCol="0" anchor="t"/>
          <a:lstStyle/>
          <a:p>
            <a:pPr algn="l" indent="0" marL="0">
              <a:buNone/>
            </a:pPr>
            <a:r>
              <a:rPr lang="en-US" sz="1300" b="1" dirty="0">
                <a:solidFill>
                  <a:schemeClr val="accent3"/>
                </a:solidFill>
              </a:rPr>
              <a:t>App container</a:t>
            </a:r>
            <a:endParaRPr lang="en-US" sz="1300" dirty="0"/>
          </a:p>
          <a:p>
            <a:pPr algn="l" indent="0" marL="0">
              <a:buNone/>
            </a:pPr>
            <a:r>
              <a:rPr lang="en-US" sz="1100" dirty="0">
                <a:solidFill>
                  <a:schemeClr val="tx2"/>
                </a:solidFill>
              </a:rPr>
              <a:t>default Compute Engine service account</a:t>
            </a:r>
            <a:endParaRPr lang="en-US" sz="1300" dirty="0"/>
          </a:p>
        </p:txBody>
      </p:sp>
      <p:sp>
        <p:nvSpPr>
          <p:cNvPr id="13" name="shape-11"/>
          <p:cNvSpPr/>
          <p:nvPr/>
        </p:nvSpPr>
        <p:spPr>
          <a:xfrm>
            <a:off x="4069080" y="2606040"/>
            <a:ext cx="1600200" cy="1188720"/>
          </a:xfrm>
          <a:prstGeom prst="roundRect">
            <a:avLst>
              <a:gd name="adj" fmla="val 6154"/>
            </a:avLst>
          </a:prstGeom>
          <a:solidFill>
            <a:schemeClr val="bg1"/>
          </a:solidFill>
          <a:ln w="12700">
            <a:solidFill>
              <a:schemeClr val="accent3"/>
            </a:solidFill>
            <a:prstDash val="solid"/>
          </a:ln>
        </p:spPr>
      </p:sp>
      <p:sp>
        <p:nvSpPr>
          <p:cNvPr id="14" name="text-12"/>
          <p:cNvSpPr txBox="1"/>
          <p:nvPr/>
        </p:nvSpPr>
        <p:spPr>
          <a:xfrm>
            <a:off x="4114800" y="2651760"/>
            <a:ext cx="1508760" cy="1097280"/>
          </a:xfrm>
          <a:prstGeom prst="rect">
            <a:avLst/>
          </a:prstGeom>
          <a:noFill/>
          <a:ln/>
        </p:spPr>
        <p:txBody>
          <a:bodyPr wrap="square" lIns="762" tIns="762" rIns="762" bIns="762" rtlCol="0" anchor="t"/>
          <a:lstStyle/>
          <a:p>
            <a:pPr algn="l" indent="0" marL="0">
              <a:buNone/>
            </a:pPr>
            <a:r>
              <a:rPr lang="en-US" sz="1300" b="1" dirty="0">
                <a:solidFill>
                  <a:schemeClr val="tx1"/>
                </a:solidFill>
              </a:rPr>
              <a:t>Firestore</a:t>
            </a:r>
            <a:endParaRPr lang="en-US" sz="1300" dirty="0"/>
          </a:p>
          <a:p>
            <a:pPr algn="l" indent="0" marL="0">
              <a:buNone/>
            </a:pPr>
            <a:r>
              <a:rPr lang="en-US" sz="1100" dirty="0">
                <a:solidFill>
                  <a:schemeClr val="tx2"/>
                </a:solidFill>
              </a:rPr>
              <a:t>users, portfolios, trades (separate Firebase project)</a:t>
            </a:r>
            <a:endParaRPr lang="en-US" sz="1300" dirty="0"/>
          </a:p>
        </p:txBody>
      </p:sp>
      <p:sp>
        <p:nvSpPr>
          <p:cNvPr id="15" name="arrow-13"/>
          <p:cNvSpPr/>
          <p:nvPr/>
        </p:nvSpPr>
        <p:spPr>
          <a:xfrm flipV="1">
            <a:off x="3611880" y="3200400"/>
            <a:ext cx="457200" cy="45720"/>
          </a:xfrm>
          <a:prstGeom prst="line">
            <a:avLst/>
          </a:prstGeom>
          <a:noFill/>
          <a:ln w="22225">
            <a:solidFill>
              <a:schemeClr val="accent2"/>
            </a:solidFill>
            <a:prstDash val="dash"/>
            <a:tailEnd type="triangle"/>
          </a:ln>
        </p:spPr>
      </p:sp>
      <p:sp>
        <p:nvSpPr>
          <p:cNvPr id="16" name="text-14"/>
          <p:cNvSpPr txBox="1"/>
          <p:nvPr/>
        </p:nvSpPr>
        <p:spPr>
          <a:xfrm>
            <a:off x="3639312" y="3310128"/>
            <a:ext cx="457200" cy="228600"/>
          </a:xfrm>
          <a:prstGeom prst="rect">
            <a:avLst/>
          </a:prstGeom>
          <a:noFill/>
          <a:ln/>
        </p:spPr>
        <p:txBody>
          <a:bodyPr wrap="square" lIns="0" tIns="0" rIns="0" bIns="0" rtlCol="0" anchor="t"/>
          <a:lstStyle/>
          <a:p>
            <a:pPr algn="l" indent="0" marL="0">
              <a:buNone/>
            </a:pPr>
            <a:r>
              <a:rPr lang="en-US" sz="900" dirty="0">
                <a:solidFill>
                  <a:schemeClr val="accent2"/>
                </a:solidFill>
              </a:rPr>
              <a:t>key file</a:t>
            </a:r>
            <a:endParaRPr lang="en-US" sz="900" dirty="0"/>
          </a:p>
        </p:txBody>
      </p:sp>
      <p:sp>
        <p:nvSpPr>
          <p:cNvPr id="17" name="panel-arrow"/>
          <p:cNvSpPr/>
          <p:nvPr/>
        </p:nvSpPr>
        <p:spPr>
          <a:xfrm>
            <a:off x="5925312" y="3017520"/>
            <a:ext cx="365760" cy="502920"/>
          </a:xfrm>
          <a:prstGeom prst="rightArrow">
            <a:avLst/>
          </a:prstGeom>
          <a:solidFill>
            <a:schemeClr val="accent1"/>
          </a:solidFill>
          <a:ln w="12700">
            <a:solidFill>
              <a:schemeClr val="accent1"/>
            </a:solidFill>
            <a:prstDash val="solid"/>
          </a:ln>
        </p:spPr>
      </p:sp>
      <p:sp>
        <p:nvSpPr>
          <p:cNvPr id="18" name="text-15"/>
          <p:cNvSpPr txBox="1"/>
          <p:nvPr/>
        </p:nvSpPr>
        <p:spPr>
          <a:xfrm>
            <a:off x="6336792" y="1097280"/>
            <a:ext cx="5394960" cy="320040"/>
          </a:xfrm>
          <a:prstGeom prst="rect">
            <a:avLst/>
          </a:prstGeom>
          <a:noFill/>
          <a:ln/>
        </p:spPr>
        <p:txBody>
          <a:bodyPr wrap="square" lIns="0" tIns="0" rIns="0" bIns="0" rtlCol="0" anchor="t"/>
          <a:lstStyle/>
          <a:p>
            <a:pPr algn="l" indent="0" marL="0">
              <a:buNone/>
            </a:pPr>
            <a:r>
              <a:rPr lang="en-US" sz="1400" b="1" dirty="0">
                <a:solidFill>
                  <a:schemeClr val="accent1"/>
                </a:solidFill>
              </a:rPr>
              <a:t>AFTER · Milestone 4</a:t>
            </a:r>
            <a:endParaRPr lang="en-US" sz="1400" dirty="0"/>
          </a:p>
        </p:txBody>
      </p:sp>
      <p:sp>
        <p:nvSpPr>
          <p:cNvPr id="19" name="shape-16"/>
          <p:cNvSpPr/>
          <p:nvPr/>
        </p:nvSpPr>
        <p:spPr>
          <a:xfrm>
            <a:off x="6336792" y="1463040"/>
            <a:ext cx="5394960" cy="3657600"/>
          </a:xfrm>
          <a:prstGeom prst="roundRect">
            <a:avLst>
              <a:gd name="adj" fmla="val 3000"/>
            </a:avLst>
          </a:prstGeom>
          <a:solidFill>
            <a:schemeClr val="bg2"/>
          </a:solidFill>
          <a:ln w="12700">
            <a:solidFill>
              <a:schemeClr val="accent6"/>
            </a:solidFill>
            <a:prstDash val="solid"/>
          </a:ln>
        </p:spPr>
      </p:sp>
      <p:sp>
        <p:nvSpPr>
          <p:cNvPr id="20" name="shape-17"/>
          <p:cNvSpPr/>
          <p:nvPr/>
        </p:nvSpPr>
        <p:spPr>
          <a:xfrm>
            <a:off x="6565392" y="2697480"/>
            <a:ext cx="2057400" cy="1097280"/>
          </a:xfrm>
          <a:prstGeom prst="roundRect">
            <a:avLst>
              <a:gd name="adj" fmla="val 6667"/>
            </a:avLst>
          </a:prstGeom>
          <a:solidFill>
            <a:schemeClr val="accent6"/>
          </a:solidFill>
          <a:ln w="19050">
            <a:solidFill>
              <a:schemeClr val="accent3"/>
            </a:solidFill>
            <a:prstDash val="solid"/>
          </a:ln>
        </p:spPr>
      </p:sp>
      <p:sp>
        <p:nvSpPr>
          <p:cNvPr id="21" name="text-18"/>
          <p:cNvSpPr txBox="1"/>
          <p:nvPr/>
        </p:nvSpPr>
        <p:spPr>
          <a:xfrm>
            <a:off x="6629400" y="2761488"/>
            <a:ext cx="1920240" cy="960120"/>
          </a:xfrm>
          <a:prstGeom prst="rect">
            <a:avLst/>
          </a:prstGeom>
          <a:noFill/>
          <a:ln/>
        </p:spPr>
        <p:txBody>
          <a:bodyPr wrap="square" lIns="762" tIns="762" rIns="762" bIns="762" rtlCol="0" anchor="t"/>
          <a:lstStyle/>
          <a:p>
            <a:pPr algn="l" indent="0" marL="0">
              <a:buNone/>
            </a:pPr>
            <a:r>
              <a:rPr lang="en-US" sz="1400" b="1" dirty="0">
                <a:solidFill>
                  <a:schemeClr val="accent3"/>
                </a:solidFill>
              </a:rPr>
              <a:t>VM (stateless)</a:t>
            </a:r>
            <a:endParaRPr lang="en-US" sz="1300" dirty="0"/>
          </a:p>
          <a:p>
            <a:pPr algn="l" indent="0" marL="0">
              <a:buNone/>
            </a:pPr>
            <a:r>
              <a:rPr lang="en-US" sz="1100" dirty="0">
                <a:solidFill>
                  <a:schemeClr val="tx2"/>
                </a:solidFill>
              </a:rPr>
              <a:t>2 compose files, no .env, no key, no volume</a:t>
            </a:r>
            <a:endParaRPr lang="en-US" sz="1300" dirty="0"/>
          </a:p>
        </p:txBody>
      </p:sp>
      <p:sp>
        <p:nvSpPr>
          <p:cNvPr id="22" name="shape-19"/>
          <p:cNvSpPr/>
          <p:nvPr/>
        </p:nvSpPr>
        <p:spPr>
          <a:xfrm>
            <a:off x="9189720" y="1645920"/>
            <a:ext cx="2377440" cy="713232"/>
          </a:xfrm>
          <a:prstGeom prst="roundRect">
            <a:avLst>
              <a:gd name="adj" fmla="val 10256"/>
            </a:avLst>
          </a:prstGeom>
          <a:solidFill>
            <a:schemeClr val="bg1"/>
          </a:solidFill>
          <a:ln w="12700">
            <a:solidFill>
              <a:schemeClr val="accent1"/>
            </a:solidFill>
            <a:prstDash val="solid"/>
          </a:ln>
        </p:spPr>
      </p:sp>
      <p:sp>
        <p:nvSpPr>
          <p:cNvPr id="23" name="text-20"/>
          <p:cNvSpPr txBox="1"/>
          <p:nvPr/>
        </p:nvSpPr>
        <p:spPr>
          <a:xfrm>
            <a:off x="9262872" y="1691640"/>
            <a:ext cx="22311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Cloud SQL PostgreSQL 16</a:t>
            </a:r>
            <a:endParaRPr lang="en-US" sz="1300" dirty="0"/>
          </a:p>
          <a:p>
            <a:pPr algn="l" indent="0" marL="0">
              <a:buNone/>
            </a:pPr>
            <a:r>
              <a:rPr lang="en-US" sz="1100" dirty="0">
                <a:solidFill>
                  <a:schemeClr val="tx2"/>
                </a:solidFill>
              </a:rPr>
              <a:t>all app data · private IP only</a:t>
            </a:r>
            <a:endParaRPr lang="en-US" sz="1300" dirty="0"/>
          </a:p>
        </p:txBody>
      </p:sp>
      <p:sp>
        <p:nvSpPr>
          <p:cNvPr id="24" name="arrow-21"/>
          <p:cNvSpPr/>
          <p:nvPr/>
        </p:nvSpPr>
        <p:spPr>
          <a:xfrm flipV="1">
            <a:off x="8622792" y="2002536"/>
            <a:ext cx="566928" cy="1243584"/>
          </a:xfrm>
          <a:prstGeom prst="line">
            <a:avLst/>
          </a:prstGeom>
          <a:noFill/>
          <a:ln w="15875">
            <a:solidFill>
              <a:schemeClr val="accent1"/>
            </a:solidFill>
            <a:prstDash val="solid"/>
            <a:tailEnd type="triangle"/>
          </a:ln>
        </p:spPr>
      </p:sp>
      <p:sp>
        <p:nvSpPr>
          <p:cNvPr id="25" name="shape-22"/>
          <p:cNvSpPr/>
          <p:nvPr/>
        </p:nvSpPr>
        <p:spPr>
          <a:xfrm>
            <a:off x="9189720" y="2487168"/>
            <a:ext cx="2377440" cy="713232"/>
          </a:xfrm>
          <a:prstGeom prst="roundRect">
            <a:avLst>
              <a:gd name="adj" fmla="val 10256"/>
            </a:avLst>
          </a:prstGeom>
          <a:solidFill>
            <a:schemeClr val="bg1"/>
          </a:solidFill>
          <a:ln w="12700">
            <a:solidFill>
              <a:schemeClr val="accent1"/>
            </a:solidFill>
            <a:prstDash val="solid"/>
          </a:ln>
        </p:spPr>
      </p:sp>
      <p:sp>
        <p:nvSpPr>
          <p:cNvPr id="26" name="text-23"/>
          <p:cNvSpPr txBox="1"/>
          <p:nvPr/>
        </p:nvSpPr>
        <p:spPr>
          <a:xfrm>
            <a:off x="9262872" y="2532888"/>
            <a:ext cx="22311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Cloud Storage bucket</a:t>
            </a:r>
            <a:endParaRPr lang="en-US" sz="1300" dirty="0"/>
          </a:p>
          <a:p>
            <a:pPr algn="l" indent="0" marL="0">
              <a:buNone/>
            </a:pPr>
            <a:r>
              <a:rPr lang="en-US" sz="1100" dirty="0">
                <a:solidFill>
                  <a:schemeClr val="tx2"/>
                </a:solidFill>
              </a:rPr>
              <a:t>photos · market cache · history</a:t>
            </a:r>
            <a:endParaRPr lang="en-US" sz="1300" dirty="0"/>
          </a:p>
        </p:txBody>
      </p:sp>
      <p:sp>
        <p:nvSpPr>
          <p:cNvPr id="27" name="arrow-24"/>
          <p:cNvSpPr/>
          <p:nvPr/>
        </p:nvSpPr>
        <p:spPr>
          <a:xfrm flipV="1">
            <a:off x="8622792" y="2843784"/>
            <a:ext cx="566928" cy="402336"/>
          </a:xfrm>
          <a:prstGeom prst="line">
            <a:avLst/>
          </a:prstGeom>
          <a:noFill/>
          <a:ln w="15875">
            <a:solidFill>
              <a:schemeClr val="accent1"/>
            </a:solidFill>
            <a:prstDash val="solid"/>
            <a:tailEnd type="triangle"/>
          </a:ln>
        </p:spPr>
      </p:sp>
      <p:sp>
        <p:nvSpPr>
          <p:cNvPr id="28" name="shape-25"/>
          <p:cNvSpPr/>
          <p:nvPr/>
        </p:nvSpPr>
        <p:spPr>
          <a:xfrm>
            <a:off x="9189720" y="3328416"/>
            <a:ext cx="2377440" cy="713232"/>
          </a:xfrm>
          <a:prstGeom prst="roundRect">
            <a:avLst>
              <a:gd name="adj" fmla="val 10256"/>
            </a:avLst>
          </a:prstGeom>
          <a:solidFill>
            <a:schemeClr val="bg1"/>
          </a:solidFill>
          <a:ln w="12700">
            <a:solidFill>
              <a:schemeClr val="accent1"/>
            </a:solidFill>
            <a:prstDash val="solid"/>
          </a:ln>
        </p:spPr>
      </p:sp>
      <p:sp>
        <p:nvSpPr>
          <p:cNvPr id="29" name="text-26"/>
          <p:cNvSpPr txBox="1"/>
          <p:nvPr/>
        </p:nvSpPr>
        <p:spPr>
          <a:xfrm>
            <a:off x="9262872" y="3374136"/>
            <a:ext cx="22311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Secret Manager</a:t>
            </a:r>
            <a:endParaRPr lang="en-US" sz="1300" dirty="0"/>
          </a:p>
          <a:p>
            <a:pPr algn="l" indent="0" marL="0">
              <a:buNone/>
            </a:pPr>
            <a:r>
              <a:rPr lang="en-US" sz="1100" dirty="0">
                <a:solidFill>
                  <a:schemeClr val="tx2"/>
                </a:solidFill>
              </a:rPr>
              <a:t>db-password · anthropic-api-key</a:t>
            </a:r>
            <a:endParaRPr lang="en-US" sz="1300" dirty="0"/>
          </a:p>
        </p:txBody>
      </p:sp>
      <p:sp>
        <p:nvSpPr>
          <p:cNvPr id="30" name="arrow-27"/>
          <p:cNvSpPr/>
          <p:nvPr/>
        </p:nvSpPr>
        <p:spPr>
          <a:xfrm>
            <a:off x="8622792" y="3246120"/>
            <a:ext cx="566928" cy="438912"/>
          </a:xfrm>
          <a:prstGeom prst="line">
            <a:avLst/>
          </a:prstGeom>
          <a:noFill/>
          <a:ln w="15875">
            <a:solidFill>
              <a:schemeClr val="accent1"/>
            </a:solidFill>
            <a:prstDash val="solid"/>
            <a:tailEnd type="triangle"/>
          </a:ln>
        </p:spPr>
      </p:sp>
      <p:sp>
        <p:nvSpPr>
          <p:cNvPr id="31" name="shape-28"/>
          <p:cNvSpPr/>
          <p:nvPr/>
        </p:nvSpPr>
        <p:spPr>
          <a:xfrm>
            <a:off x="9189720" y="4169664"/>
            <a:ext cx="2377440" cy="713232"/>
          </a:xfrm>
          <a:prstGeom prst="roundRect">
            <a:avLst>
              <a:gd name="adj" fmla="val 10256"/>
            </a:avLst>
          </a:prstGeom>
          <a:solidFill>
            <a:schemeClr val="bg1"/>
          </a:solidFill>
          <a:ln w="12700">
            <a:solidFill>
              <a:schemeClr val="accent1"/>
            </a:solidFill>
            <a:prstDash val="solid"/>
          </a:ln>
        </p:spPr>
      </p:sp>
      <p:sp>
        <p:nvSpPr>
          <p:cNvPr id="32" name="text-29"/>
          <p:cNvSpPr txBox="1"/>
          <p:nvPr/>
        </p:nvSpPr>
        <p:spPr>
          <a:xfrm>
            <a:off x="9262872" y="4215384"/>
            <a:ext cx="22311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Artifact Registry</a:t>
            </a:r>
            <a:endParaRPr lang="en-US" sz="1300" dirty="0"/>
          </a:p>
          <a:p>
            <a:pPr algn="l" indent="0" marL="0">
              <a:buNone/>
            </a:pPr>
            <a:r>
              <a:rPr lang="en-US" sz="1100" dirty="0">
                <a:solidFill>
                  <a:schemeClr val="tx2"/>
                </a:solidFill>
              </a:rPr>
              <a:t>app:v3 image</a:t>
            </a:r>
            <a:endParaRPr lang="en-US" sz="1300" dirty="0"/>
          </a:p>
        </p:txBody>
      </p:sp>
      <p:sp>
        <p:nvSpPr>
          <p:cNvPr id="33" name="arrow-30"/>
          <p:cNvSpPr/>
          <p:nvPr/>
        </p:nvSpPr>
        <p:spPr>
          <a:xfrm>
            <a:off x="8622792" y="3246120"/>
            <a:ext cx="566928" cy="1280160"/>
          </a:xfrm>
          <a:prstGeom prst="line">
            <a:avLst/>
          </a:prstGeom>
          <a:noFill/>
          <a:ln w="15875">
            <a:solidFill>
              <a:schemeClr val="accent1"/>
            </a:solidFill>
            <a:prstDash val="solid"/>
            <a:tailEnd type="triangle"/>
          </a:ln>
        </p:spPr>
      </p:sp>
      <p:sp>
        <p:nvSpPr>
          <p:cNvPr id="34" name="shape-31"/>
          <p:cNvSpPr/>
          <p:nvPr/>
        </p:nvSpPr>
        <p:spPr>
          <a:xfrm>
            <a:off x="457200" y="5349240"/>
            <a:ext cx="3630168" cy="914400"/>
          </a:xfrm>
          <a:prstGeom prst="roundRect">
            <a:avLst>
              <a:gd name="adj" fmla="val 8000"/>
            </a:avLst>
          </a:prstGeom>
          <a:solidFill>
            <a:schemeClr val="accent4"/>
          </a:solidFill>
          <a:ln w="12700">
            <a:solidFill>
              <a:schemeClr val="accent4"/>
            </a:solidFill>
            <a:prstDash val="solid"/>
          </a:ln>
        </p:spPr>
      </p:sp>
      <p:sp>
        <p:nvSpPr>
          <p:cNvPr id="35" name="text-32"/>
          <p:cNvSpPr txBox="1"/>
          <p:nvPr/>
        </p:nvSpPr>
        <p:spPr>
          <a:xfrm>
            <a:off x="594360" y="5394960"/>
            <a:ext cx="1371600" cy="822960"/>
          </a:xfrm>
          <a:prstGeom prst="rect">
            <a:avLst/>
          </a:prstGeom>
          <a:noFill/>
          <a:ln/>
        </p:spPr>
        <p:txBody>
          <a:bodyPr wrap="square" lIns="762" tIns="762" rIns="762" bIns="762" rtlCol="0" anchor="ctr"/>
          <a:lstStyle/>
          <a:p>
            <a:pPr algn="l" indent="0" marL="0">
              <a:buNone/>
            </a:pPr>
            <a:r>
              <a:rPr lang="en-US" sz="3000" b="1" dirty="0">
                <a:solidFill>
                  <a:schemeClr val="accent1"/>
                </a:solidFill>
              </a:rPr>
              <a:t>39 / 39</a:t>
            </a:r>
            <a:endParaRPr lang="en-US" sz="3000" dirty="0"/>
          </a:p>
        </p:txBody>
      </p:sp>
      <p:sp>
        <p:nvSpPr>
          <p:cNvPr id="36" name="text-33"/>
          <p:cNvSpPr txBox="1"/>
          <p:nvPr/>
        </p:nvSpPr>
        <p:spPr>
          <a:xfrm>
            <a:off x="2011680" y="5394960"/>
            <a:ext cx="1920240" cy="822960"/>
          </a:xfrm>
          <a:prstGeom prst="rect">
            <a:avLst/>
          </a:prstGeom>
          <a:noFill/>
          <a:ln/>
        </p:spPr>
        <p:txBody>
          <a:bodyPr wrap="square" lIns="762" tIns="762" rIns="762" bIns="762" rtlCol="0" anchor="ctr"/>
          <a:lstStyle/>
          <a:p>
            <a:pPr algn="l" indent="0" marL="0">
              <a:buNone/>
            </a:pPr>
            <a:r>
              <a:rPr lang="en-US" sz="1300" dirty="0">
                <a:solidFill>
                  <a:schemeClr val="tx1"/>
                </a:solidFill>
              </a:rPr>
              <a:t>rows copied, every table matches</a:t>
            </a:r>
            <a:endParaRPr lang="en-US" sz="1300" dirty="0"/>
          </a:p>
        </p:txBody>
      </p:sp>
      <p:sp>
        <p:nvSpPr>
          <p:cNvPr id="37" name="shape-34"/>
          <p:cNvSpPr/>
          <p:nvPr/>
        </p:nvSpPr>
        <p:spPr>
          <a:xfrm>
            <a:off x="4279392" y="5349240"/>
            <a:ext cx="3630168" cy="914400"/>
          </a:xfrm>
          <a:prstGeom prst="roundRect">
            <a:avLst>
              <a:gd name="adj" fmla="val 8000"/>
            </a:avLst>
          </a:prstGeom>
          <a:solidFill>
            <a:schemeClr val="accent4"/>
          </a:solidFill>
          <a:ln w="12700">
            <a:solidFill>
              <a:schemeClr val="accent4"/>
            </a:solidFill>
            <a:prstDash val="solid"/>
          </a:ln>
        </p:spPr>
      </p:sp>
      <p:sp>
        <p:nvSpPr>
          <p:cNvPr id="38" name="text-35"/>
          <p:cNvSpPr txBox="1"/>
          <p:nvPr/>
        </p:nvSpPr>
        <p:spPr>
          <a:xfrm>
            <a:off x="4416552" y="5394960"/>
            <a:ext cx="594360" cy="822960"/>
          </a:xfrm>
          <a:prstGeom prst="rect">
            <a:avLst/>
          </a:prstGeom>
          <a:noFill/>
          <a:ln/>
        </p:spPr>
        <p:txBody>
          <a:bodyPr wrap="square" lIns="762" tIns="762" rIns="762" bIns="762" rtlCol="0" anchor="ctr"/>
          <a:lstStyle/>
          <a:p>
            <a:pPr algn="l" indent="0" marL="0">
              <a:buNone/>
            </a:pPr>
            <a:r>
              <a:rPr lang="en-US" sz="3000" b="1" dirty="0">
                <a:solidFill>
                  <a:schemeClr val="accent1"/>
                </a:solidFill>
              </a:rPr>
              <a:t>0</a:t>
            </a:r>
            <a:endParaRPr lang="en-US" sz="3000" dirty="0"/>
          </a:p>
        </p:txBody>
      </p:sp>
      <p:sp>
        <p:nvSpPr>
          <p:cNvPr id="39" name="text-36"/>
          <p:cNvSpPr txBox="1"/>
          <p:nvPr/>
        </p:nvSpPr>
        <p:spPr>
          <a:xfrm>
            <a:off x="5056632" y="5394960"/>
            <a:ext cx="2697480" cy="822960"/>
          </a:xfrm>
          <a:prstGeom prst="rect">
            <a:avLst/>
          </a:prstGeom>
          <a:noFill/>
          <a:ln/>
        </p:spPr>
        <p:txBody>
          <a:bodyPr wrap="square" lIns="762" tIns="762" rIns="762" bIns="762" rtlCol="0" anchor="ctr"/>
          <a:lstStyle/>
          <a:p>
            <a:pPr algn="l" indent="0" marL="0">
              <a:buNone/>
            </a:pPr>
            <a:r>
              <a:rPr lang="en-US" sz="1300" dirty="0">
                <a:solidFill>
                  <a:schemeClr val="tx1"/>
                </a:solidFill>
              </a:rPr>
              <a:t>key files or .env on the VM</a:t>
            </a:r>
            <a:endParaRPr lang="en-US" sz="1300" dirty="0"/>
          </a:p>
        </p:txBody>
      </p:sp>
      <p:sp>
        <p:nvSpPr>
          <p:cNvPr id="40" name="shape-37"/>
          <p:cNvSpPr/>
          <p:nvPr/>
        </p:nvSpPr>
        <p:spPr>
          <a:xfrm>
            <a:off x="8101584" y="5349240"/>
            <a:ext cx="3630168" cy="914400"/>
          </a:xfrm>
          <a:prstGeom prst="roundRect">
            <a:avLst>
              <a:gd name="adj" fmla="val 8000"/>
            </a:avLst>
          </a:prstGeom>
          <a:solidFill>
            <a:schemeClr val="accent4"/>
          </a:solidFill>
          <a:ln w="12700">
            <a:solidFill>
              <a:schemeClr val="accent4"/>
            </a:solidFill>
            <a:prstDash val="solid"/>
          </a:ln>
        </p:spPr>
      </p:sp>
      <p:sp>
        <p:nvSpPr>
          <p:cNvPr id="41" name="text-38"/>
          <p:cNvSpPr txBox="1"/>
          <p:nvPr/>
        </p:nvSpPr>
        <p:spPr>
          <a:xfrm>
            <a:off x="8238744" y="5394960"/>
            <a:ext cx="594360" cy="822960"/>
          </a:xfrm>
          <a:prstGeom prst="rect">
            <a:avLst/>
          </a:prstGeom>
          <a:noFill/>
          <a:ln/>
        </p:spPr>
        <p:txBody>
          <a:bodyPr wrap="square" lIns="762" tIns="762" rIns="762" bIns="762" rtlCol="0" anchor="ctr"/>
          <a:lstStyle/>
          <a:p>
            <a:pPr algn="l" indent="0" marL="0">
              <a:buNone/>
            </a:pPr>
            <a:r>
              <a:rPr lang="en-US" sz="3000" b="1" dirty="0">
                <a:solidFill>
                  <a:schemeClr val="accent1"/>
                </a:solidFill>
              </a:rPr>
              <a:t>9</a:t>
            </a:r>
            <a:endParaRPr lang="en-US" sz="3000" dirty="0"/>
          </a:p>
        </p:txBody>
      </p:sp>
      <p:sp>
        <p:nvSpPr>
          <p:cNvPr id="42" name="text-39"/>
          <p:cNvSpPr txBox="1"/>
          <p:nvPr/>
        </p:nvSpPr>
        <p:spPr>
          <a:xfrm>
            <a:off x="8878824" y="5394960"/>
            <a:ext cx="2697480" cy="822960"/>
          </a:xfrm>
          <a:prstGeom prst="rect">
            <a:avLst/>
          </a:prstGeom>
          <a:noFill/>
          <a:ln/>
        </p:spPr>
        <p:txBody>
          <a:bodyPr wrap="square" lIns="762" tIns="762" rIns="762" bIns="762" rtlCol="0" anchor="ctr"/>
          <a:lstStyle/>
          <a:p>
            <a:pPr algn="l" indent="0" marL="0">
              <a:buNone/>
            </a:pPr>
            <a:r>
              <a:rPr lang="en-US" sz="1300" dirty="0">
                <a:solidFill>
                  <a:schemeClr val="tx1"/>
                </a:solidFill>
              </a:rPr>
              <a:t>tables from 001_initial.sql</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t"/>
          <a:lstStyle/>
          <a:p>
            <a:pPr indent="0" marL="0">
              <a:buNone/>
            </a:pPr>
            <a:r>
              <a:rPr lang="en-US" sz="3200" b="1" dirty="0">
                <a:solidFill>
                  <a:schemeClr val="tx1"/>
                </a:solidFill>
              </a:rPr>
              <a:t>Identity and network: who can reach what</a:t>
            </a:r>
            <a:endParaRPr lang="en-US" sz="3200" dirty="0"/>
          </a:p>
        </p:txBody>
      </p:sp>
      <p:sp>
        <p:nvSpPr>
          <p:cNvPr id="3" name="shape-40"/>
          <p:cNvSpPr/>
          <p:nvPr/>
        </p:nvSpPr>
        <p:spPr>
          <a:xfrm>
            <a:off x="457200" y="1463040"/>
            <a:ext cx="1600200" cy="731520"/>
          </a:xfrm>
          <a:prstGeom prst="roundRect">
            <a:avLst>
              <a:gd name="adj" fmla="val 10000"/>
            </a:avLst>
          </a:prstGeom>
          <a:solidFill>
            <a:schemeClr val="accent5"/>
          </a:solidFill>
          <a:ln w="12700">
            <a:solidFill>
              <a:schemeClr val="accent2"/>
            </a:solidFill>
            <a:prstDash val="solid"/>
          </a:ln>
        </p:spPr>
      </p:sp>
      <p:sp>
        <p:nvSpPr>
          <p:cNvPr id="4" name="text-41"/>
          <p:cNvSpPr txBox="1"/>
          <p:nvPr/>
        </p:nvSpPr>
        <p:spPr>
          <a:xfrm>
            <a:off x="530352" y="1517904"/>
            <a:ext cx="1463040" cy="640080"/>
          </a:xfrm>
          <a:prstGeom prst="rect">
            <a:avLst/>
          </a:prstGeom>
          <a:noFill/>
          <a:ln/>
        </p:spPr>
        <p:txBody>
          <a:bodyPr wrap="square" lIns="762" tIns="762" rIns="762" bIns="762" rtlCol="0" anchor="t"/>
          <a:lstStyle/>
          <a:p>
            <a:pPr algn="l" indent="0" marL="0">
              <a:buNone/>
            </a:pPr>
            <a:r>
              <a:rPr lang="en-US" sz="1300" b="1" dirty="0">
                <a:solidFill>
                  <a:schemeClr val="accent2"/>
                </a:solidFill>
              </a:rPr>
              <a:t>Team IPs only</a:t>
            </a:r>
            <a:endParaRPr lang="en-US" sz="1300" dirty="0"/>
          </a:p>
          <a:p>
            <a:pPr algn="l" indent="0" marL="0">
              <a:buNone/>
            </a:pPr>
            <a:r>
              <a:rPr lang="en-US" sz="1100" dirty="0">
                <a:solidFill>
                  <a:schemeClr val="tx2"/>
                </a:solidFill>
              </a:rPr>
              <a:t>firewall: tcp 80, 22</a:t>
            </a:r>
            <a:endParaRPr lang="en-US" sz="1300" dirty="0"/>
          </a:p>
        </p:txBody>
      </p:sp>
      <p:sp>
        <p:nvSpPr>
          <p:cNvPr id="5" name="arrow-42"/>
          <p:cNvSpPr/>
          <p:nvPr/>
        </p:nvSpPr>
        <p:spPr>
          <a:xfrm>
            <a:off x="2057400" y="1828800"/>
            <a:ext cx="640080" cy="914"/>
          </a:xfrm>
          <a:prstGeom prst="line">
            <a:avLst/>
          </a:prstGeom>
          <a:noFill/>
          <a:ln w="22225">
            <a:solidFill>
              <a:schemeClr val="accent2"/>
            </a:solidFill>
            <a:prstDash val="solid"/>
            <a:tailEnd type="triangle"/>
          </a:ln>
        </p:spPr>
      </p:sp>
      <p:sp>
        <p:nvSpPr>
          <p:cNvPr id="6" name="text-43"/>
          <p:cNvSpPr txBox="1"/>
          <p:nvPr/>
        </p:nvSpPr>
        <p:spPr>
          <a:xfrm>
            <a:off x="2103120" y="1481328"/>
            <a:ext cx="640080" cy="274320"/>
          </a:xfrm>
          <a:prstGeom prst="rect">
            <a:avLst/>
          </a:prstGeom>
          <a:noFill/>
          <a:ln/>
        </p:spPr>
        <p:txBody>
          <a:bodyPr wrap="square" lIns="0" tIns="0" rIns="0" bIns="0" rtlCol="0" anchor="t"/>
          <a:lstStyle/>
          <a:p>
            <a:pPr algn="l" indent="0" marL="0">
              <a:buNone/>
            </a:pPr>
            <a:r>
              <a:rPr lang="en-US" sz="1000" b="1" dirty="0">
                <a:solidFill>
                  <a:schemeClr val="accent2"/>
                </a:solidFill>
              </a:rPr>
              <a:t>PUBLIC</a:t>
            </a:r>
            <a:endParaRPr lang="en-US" sz="1000" dirty="0"/>
          </a:p>
        </p:txBody>
      </p:sp>
      <p:sp>
        <p:nvSpPr>
          <p:cNvPr id="7" name="shape-44"/>
          <p:cNvSpPr/>
          <p:nvPr/>
        </p:nvSpPr>
        <p:spPr>
          <a:xfrm>
            <a:off x="2697480" y="1143000"/>
            <a:ext cx="5440680" cy="4251960"/>
          </a:xfrm>
          <a:prstGeom prst="roundRect">
            <a:avLst>
              <a:gd name="adj" fmla="val 2151"/>
            </a:avLst>
          </a:prstGeom>
          <a:solidFill>
            <a:schemeClr val="bg2"/>
          </a:solidFill>
          <a:ln w="12700">
            <a:solidFill>
              <a:schemeClr val="accent3"/>
            </a:solidFill>
            <a:prstDash val="dash"/>
          </a:ln>
        </p:spPr>
      </p:sp>
      <p:sp>
        <p:nvSpPr>
          <p:cNvPr id="8" name="text-45"/>
          <p:cNvSpPr txBox="1"/>
          <p:nvPr/>
        </p:nvSpPr>
        <p:spPr>
          <a:xfrm>
            <a:off x="2834640" y="1188720"/>
            <a:ext cx="5212080" cy="320040"/>
          </a:xfrm>
          <a:prstGeom prst="rect">
            <a:avLst/>
          </a:prstGeom>
          <a:noFill/>
          <a:ln/>
        </p:spPr>
        <p:txBody>
          <a:bodyPr wrap="square" lIns="762" tIns="762" rIns="762" bIns="762" rtlCol="0" anchor="t"/>
          <a:lstStyle/>
          <a:p>
            <a:pPr algn="l" indent="0" marL="0">
              <a:buNone/>
            </a:pPr>
            <a:r>
              <a:rPr lang="en-US" sz="1200" b="1" dirty="0">
                <a:solidFill>
                  <a:schemeClr val="accent3"/>
                </a:solidFill>
              </a:rPr>
              <a:t>VPC default · subnet us-central1 10.128.0.0/20</a:t>
            </a:r>
            <a:endParaRPr lang="en-US" sz="1200" dirty="0"/>
          </a:p>
        </p:txBody>
      </p:sp>
      <p:sp>
        <p:nvSpPr>
          <p:cNvPr id="9" name="shape-46"/>
          <p:cNvSpPr/>
          <p:nvPr/>
        </p:nvSpPr>
        <p:spPr>
          <a:xfrm>
            <a:off x="2926080" y="1600200"/>
            <a:ext cx="4983480" cy="1234440"/>
          </a:xfrm>
          <a:prstGeom prst="roundRect">
            <a:avLst>
              <a:gd name="adj" fmla="val 5926"/>
            </a:avLst>
          </a:prstGeom>
          <a:solidFill>
            <a:schemeClr val="accent6"/>
          </a:solidFill>
          <a:ln w="19050">
            <a:solidFill>
              <a:schemeClr val="accent3"/>
            </a:solidFill>
            <a:prstDash val="solid"/>
          </a:ln>
        </p:spPr>
      </p:sp>
      <p:sp>
        <p:nvSpPr>
          <p:cNvPr id="10" name="text-47"/>
          <p:cNvSpPr txBox="1"/>
          <p:nvPr/>
        </p:nvSpPr>
        <p:spPr>
          <a:xfrm>
            <a:off x="3017520" y="1664208"/>
            <a:ext cx="4800600" cy="1143000"/>
          </a:xfrm>
          <a:prstGeom prst="rect">
            <a:avLst/>
          </a:prstGeom>
          <a:noFill/>
          <a:ln/>
        </p:spPr>
        <p:txBody>
          <a:bodyPr wrap="square" lIns="762" tIns="762" rIns="762" bIns="762" rtlCol="0" anchor="t"/>
          <a:lstStyle/>
          <a:p>
            <a:pPr algn="l" indent="0" marL="0">
              <a:buNone/>
            </a:pPr>
            <a:r>
              <a:rPr lang="en-US" sz="1400" b="1" dirty="0">
                <a:solidFill>
                  <a:schemeClr val="accent3"/>
                </a:solidFill>
              </a:rPr>
              <a:t>VM mahokshahvata</a:t>
            </a:r>
            <a:endParaRPr lang="en-US" sz="1300" dirty="0"/>
          </a:p>
          <a:p>
            <a:pPr algn="l" indent="0" marL="0">
              <a:buNone/>
            </a:pPr>
            <a:r>
              <a:rPr lang="en-US" sz="1100" dirty="0">
                <a:solidFill>
                  <a:schemeClr val="tx2"/>
                </a:solidFill>
              </a:rPr>
              <a:t>internal 10.128.0.3 · static public IP 34.122.164.209</a:t>
            </a:r>
            <a:endParaRPr lang="en-US" sz="1300" dirty="0"/>
          </a:p>
          <a:p>
            <a:pPr algn="l" indent="0" marL="0">
              <a:buNone/>
            </a:pPr>
            <a:r>
              <a:rPr lang="en-US" sz="1100" dirty="0">
                <a:solidFill>
                  <a:schemeClr val="tx2"/>
                </a:solidFill>
              </a:rPr>
              <a:t>Caddy :80 → app container</a:t>
            </a:r>
            <a:endParaRPr lang="en-US" sz="1300" dirty="0"/>
          </a:p>
          <a:p>
            <a:pPr algn="l" indent="0" marL="0">
              <a:buNone/>
            </a:pPr>
            <a:r>
              <a:rPr lang="en-US" sz="1200" b="1" dirty="0">
                <a:solidFill>
                  <a:schemeClr val="accent1"/>
                </a:solidFill>
              </a:rPr>
              <a:t>runs as mahokshahvata-vm@…  (no key file)</a:t>
            </a:r>
            <a:endParaRPr lang="en-US" sz="1300" dirty="0"/>
          </a:p>
        </p:txBody>
      </p:sp>
      <p:sp>
        <p:nvSpPr>
          <p:cNvPr id="11" name="arrow-48"/>
          <p:cNvSpPr/>
          <p:nvPr/>
        </p:nvSpPr>
        <p:spPr>
          <a:xfrm>
            <a:off x="5394960" y="2834640"/>
            <a:ext cx="914" cy="594360"/>
          </a:xfrm>
          <a:prstGeom prst="line">
            <a:avLst/>
          </a:prstGeom>
          <a:noFill/>
          <a:ln w="22225">
            <a:solidFill>
              <a:schemeClr val="accent1"/>
            </a:solidFill>
            <a:prstDash val="solid"/>
            <a:tailEnd type="triangle"/>
          </a:ln>
        </p:spPr>
      </p:sp>
      <p:sp>
        <p:nvSpPr>
          <p:cNvPr id="12" name="text-49"/>
          <p:cNvSpPr txBox="1"/>
          <p:nvPr/>
        </p:nvSpPr>
        <p:spPr>
          <a:xfrm>
            <a:off x="5486400" y="2999232"/>
            <a:ext cx="2194560" cy="274320"/>
          </a:xfrm>
          <a:prstGeom prst="rect">
            <a:avLst/>
          </a:prstGeom>
          <a:noFill/>
          <a:ln/>
        </p:spPr>
        <p:txBody>
          <a:bodyPr wrap="square" lIns="0" tIns="0" rIns="0" bIns="0" rtlCol="0" anchor="t"/>
          <a:lstStyle/>
          <a:p>
            <a:pPr algn="l" indent="0" marL="0">
              <a:buNone/>
            </a:pPr>
            <a:r>
              <a:rPr lang="en-US" sz="1000" dirty="0">
                <a:solidFill>
                  <a:schemeClr val="accent1"/>
                </a:solidFill>
              </a:rPr>
              <a:t>private IP · TLS required</a:t>
            </a:r>
            <a:endParaRPr lang="en-US" sz="1000" dirty="0"/>
          </a:p>
        </p:txBody>
      </p:sp>
      <p:sp>
        <p:nvSpPr>
          <p:cNvPr id="13" name="shape-50"/>
          <p:cNvSpPr/>
          <p:nvPr/>
        </p:nvSpPr>
        <p:spPr>
          <a:xfrm>
            <a:off x="2926080" y="3429000"/>
            <a:ext cx="4983480" cy="1737360"/>
          </a:xfrm>
          <a:prstGeom prst="roundRect">
            <a:avLst>
              <a:gd name="adj" fmla="val 4211"/>
            </a:avLst>
          </a:prstGeom>
          <a:solidFill>
            <a:schemeClr val="bg1"/>
          </a:solidFill>
          <a:ln w="12700">
            <a:solidFill>
              <a:schemeClr val="accent1"/>
            </a:solidFill>
            <a:prstDash val="dash"/>
          </a:ln>
        </p:spPr>
      </p:sp>
      <p:sp>
        <p:nvSpPr>
          <p:cNvPr id="14" name="text-51"/>
          <p:cNvSpPr txBox="1"/>
          <p:nvPr/>
        </p:nvSpPr>
        <p:spPr>
          <a:xfrm>
            <a:off x="3017520" y="3474720"/>
            <a:ext cx="4800600" cy="320040"/>
          </a:xfrm>
          <a:prstGeom prst="rect">
            <a:avLst/>
          </a:prstGeom>
          <a:noFill/>
          <a:ln/>
        </p:spPr>
        <p:txBody>
          <a:bodyPr wrap="square" lIns="762" tIns="762" rIns="762" bIns="762" rtlCol="0" anchor="t"/>
          <a:lstStyle/>
          <a:p>
            <a:pPr algn="l" indent="0" marL="0">
              <a:buNone/>
            </a:pPr>
            <a:r>
              <a:rPr lang="en-US" sz="1100" b="1" dirty="0">
                <a:solidFill>
                  <a:schemeClr val="accent1"/>
                </a:solidFill>
              </a:rPr>
              <a:t>Private services access 10.27.48.0/20 (peered with Google)</a:t>
            </a:r>
            <a:endParaRPr lang="en-US" sz="1100" dirty="0"/>
          </a:p>
        </p:txBody>
      </p:sp>
      <p:sp>
        <p:nvSpPr>
          <p:cNvPr id="15" name="shape-52"/>
          <p:cNvSpPr/>
          <p:nvPr/>
        </p:nvSpPr>
        <p:spPr>
          <a:xfrm>
            <a:off x="3200400" y="3886200"/>
            <a:ext cx="4434840" cy="1051560"/>
          </a:xfrm>
          <a:prstGeom prst="roundRect">
            <a:avLst>
              <a:gd name="adj" fmla="val 6957"/>
            </a:avLst>
          </a:prstGeom>
          <a:solidFill>
            <a:schemeClr val="accent4"/>
          </a:solidFill>
          <a:ln w="19050">
            <a:solidFill>
              <a:schemeClr val="accent1"/>
            </a:solidFill>
            <a:prstDash val="solid"/>
          </a:ln>
        </p:spPr>
      </p:sp>
      <p:sp>
        <p:nvSpPr>
          <p:cNvPr id="16" name="text-53"/>
          <p:cNvSpPr txBox="1"/>
          <p:nvPr/>
        </p:nvSpPr>
        <p:spPr>
          <a:xfrm>
            <a:off x="3291840" y="3931920"/>
            <a:ext cx="4251960" cy="960120"/>
          </a:xfrm>
          <a:prstGeom prst="rect">
            <a:avLst/>
          </a:prstGeom>
          <a:noFill/>
          <a:ln/>
        </p:spPr>
        <p:txBody>
          <a:bodyPr wrap="square" lIns="762" tIns="762" rIns="762" bIns="762" rtlCol="0" anchor="t"/>
          <a:lstStyle/>
          <a:p>
            <a:pPr algn="l" indent="0" marL="0">
              <a:buNone/>
            </a:pPr>
            <a:r>
              <a:rPr lang="en-US" sz="1400" b="1" dirty="0">
                <a:solidFill>
                  <a:schemeClr val="accent1"/>
                </a:solidFill>
              </a:rPr>
              <a:t>Cloud SQL mahokshahvata-db</a:t>
            </a:r>
            <a:endParaRPr lang="en-US" sz="1300" dirty="0"/>
          </a:p>
          <a:p>
            <a:pPr algn="l" indent="0" marL="0">
              <a:buNone/>
            </a:pPr>
            <a:r>
              <a:rPr lang="en-US" sz="1200" dirty="0">
                <a:solidFill>
                  <a:schemeClr val="tx1"/>
                </a:solidFill>
              </a:rPr>
              <a:t>PostgreSQL 16 · private IP 10.27.48.3</a:t>
            </a:r>
            <a:endParaRPr lang="en-US" sz="1300" dirty="0"/>
          </a:p>
          <a:p>
            <a:pPr algn="l" indent="0" marL="0">
              <a:buNone/>
            </a:pPr>
            <a:r>
              <a:rPr lang="en-US" sz="1200" b="1" dirty="0">
                <a:solidFill>
                  <a:schemeClr val="tx1"/>
                </a:solidFill>
              </a:rPr>
              <a:t>No public IP · TLS only · daily backups</a:t>
            </a:r>
            <a:endParaRPr lang="en-US" sz="1300" dirty="0"/>
          </a:p>
        </p:txBody>
      </p:sp>
      <p:sp>
        <p:nvSpPr>
          <p:cNvPr id="17" name="text-54"/>
          <p:cNvSpPr txBox="1"/>
          <p:nvPr/>
        </p:nvSpPr>
        <p:spPr>
          <a:xfrm>
            <a:off x="8412480" y="1188720"/>
            <a:ext cx="3337560" cy="320040"/>
          </a:xfrm>
          <a:prstGeom prst="rect">
            <a:avLst/>
          </a:prstGeom>
          <a:noFill/>
          <a:ln/>
        </p:spPr>
        <p:txBody>
          <a:bodyPr wrap="square" lIns="762" tIns="762" rIns="762" bIns="762" rtlCol="0" anchor="t"/>
          <a:lstStyle/>
          <a:p>
            <a:pPr algn="l" indent="0" marL="0">
              <a:buNone/>
            </a:pPr>
            <a:r>
              <a:rPr lang="en-US" sz="1200" b="1" dirty="0">
                <a:solidFill>
                  <a:schemeClr val="accent3"/>
                </a:solidFill>
              </a:rPr>
              <a:t>Google APIs, as mahokshahvata-vm</a:t>
            </a:r>
            <a:endParaRPr lang="en-US" sz="1200" dirty="0"/>
          </a:p>
        </p:txBody>
      </p:sp>
      <p:sp>
        <p:nvSpPr>
          <p:cNvPr id="18" name="shape-55"/>
          <p:cNvSpPr/>
          <p:nvPr/>
        </p:nvSpPr>
        <p:spPr>
          <a:xfrm>
            <a:off x="8458200" y="1600200"/>
            <a:ext cx="3291840" cy="713232"/>
          </a:xfrm>
          <a:prstGeom prst="roundRect">
            <a:avLst>
              <a:gd name="adj" fmla="val 10256"/>
            </a:avLst>
          </a:prstGeom>
          <a:solidFill>
            <a:schemeClr val="bg1"/>
          </a:solidFill>
          <a:ln w="12700">
            <a:solidFill>
              <a:schemeClr val="accent1"/>
            </a:solidFill>
            <a:prstDash val="solid"/>
          </a:ln>
        </p:spPr>
      </p:sp>
      <p:sp>
        <p:nvSpPr>
          <p:cNvPr id="19" name="text-56"/>
          <p:cNvSpPr txBox="1"/>
          <p:nvPr/>
        </p:nvSpPr>
        <p:spPr>
          <a:xfrm>
            <a:off x="8531352" y="1645920"/>
            <a:ext cx="31455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Secret Manager</a:t>
            </a:r>
            <a:endParaRPr lang="en-US" sz="1300" dirty="0"/>
          </a:p>
          <a:p>
            <a:pPr algn="l" indent="0" marL="0">
              <a:buNone/>
            </a:pPr>
            <a:r>
              <a:rPr lang="en-US" sz="1100" dirty="0">
                <a:solidFill>
                  <a:schemeClr val="tx2"/>
                </a:solidFill>
              </a:rPr>
              <a:t>secretAccessor on db-password, anthropic-api-key only</a:t>
            </a:r>
            <a:endParaRPr lang="en-US" sz="1300" dirty="0"/>
          </a:p>
        </p:txBody>
      </p:sp>
      <p:sp>
        <p:nvSpPr>
          <p:cNvPr id="20" name="arrow-57"/>
          <p:cNvSpPr/>
          <p:nvPr/>
        </p:nvSpPr>
        <p:spPr>
          <a:xfrm flipV="1">
            <a:off x="7909560" y="1956816"/>
            <a:ext cx="548640" cy="256032"/>
          </a:xfrm>
          <a:prstGeom prst="line">
            <a:avLst/>
          </a:prstGeom>
          <a:noFill/>
          <a:ln w="13970">
            <a:solidFill>
              <a:schemeClr val="accent1"/>
            </a:solidFill>
            <a:prstDash val="solid"/>
            <a:tailEnd type="triangle"/>
          </a:ln>
        </p:spPr>
      </p:sp>
      <p:sp>
        <p:nvSpPr>
          <p:cNvPr id="21" name="shape-58"/>
          <p:cNvSpPr/>
          <p:nvPr/>
        </p:nvSpPr>
        <p:spPr>
          <a:xfrm>
            <a:off x="8458200" y="2532888"/>
            <a:ext cx="3291840" cy="713232"/>
          </a:xfrm>
          <a:prstGeom prst="roundRect">
            <a:avLst>
              <a:gd name="adj" fmla="val 10256"/>
            </a:avLst>
          </a:prstGeom>
          <a:solidFill>
            <a:schemeClr val="bg1"/>
          </a:solidFill>
          <a:ln w="12700">
            <a:solidFill>
              <a:schemeClr val="accent1"/>
            </a:solidFill>
            <a:prstDash val="solid"/>
          </a:ln>
        </p:spPr>
      </p:sp>
      <p:sp>
        <p:nvSpPr>
          <p:cNvPr id="22" name="text-59"/>
          <p:cNvSpPr txBox="1"/>
          <p:nvPr/>
        </p:nvSpPr>
        <p:spPr>
          <a:xfrm>
            <a:off x="8531352" y="2578608"/>
            <a:ext cx="31455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Cloud Storage bucket</a:t>
            </a:r>
            <a:endParaRPr lang="en-US" sz="1300" dirty="0"/>
          </a:p>
          <a:p>
            <a:pPr algn="l" indent="0" marL="0">
              <a:buNone/>
            </a:pPr>
            <a:r>
              <a:rPr lang="en-US" sz="1100" dirty="0">
                <a:solidFill>
                  <a:schemeClr val="tx2"/>
                </a:solidFill>
              </a:rPr>
              <a:t>storage.objectUser on this bucket only</a:t>
            </a:r>
            <a:endParaRPr lang="en-US" sz="1300" dirty="0"/>
          </a:p>
        </p:txBody>
      </p:sp>
      <p:sp>
        <p:nvSpPr>
          <p:cNvPr id="23" name="arrow-60"/>
          <p:cNvSpPr/>
          <p:nvPr/>
        </p:nvSpPr>
        <p:spPr>
          <a:xfrm>
            <a:off x="7909560" y="2212848"/>
            <a:ext cx="548640" cy="676656"/>
          </a:xfrm>
          <a:prstGeom prst="line">
            <a:avLst/>
          </a:prstGeom>
          <a:noFill/>
          <a:ln w="13970">
            <a:solidFill>
              <a:schemeClr val="accent1"/>
            </a:solidFill>
            <a:prstDash val="solid"/>
            <a:tailEnd type="triangle"/>
          </a:ln>
        </p:spPr>
      </p:sp>
      <p:sp>
        <p:nvSpPr>
          <p:cNvPr id="24" name="shape-61"/>
          <p:cNvSpPr/>
          <p:nvPr/>
        </p:nvSpPr>
        <p:spPr>
          <a:xfrm>
            <a:off x="8458200" y="3465576"/>
            <a:ext cx="3291840" cy="713232"/>
          </a:xfrm>
          <a:prstGeom prst="roundRect">
            <a:avLst>
              <a:gd name="adj" fmla="val 10256"/>
            </a:avLst>
          </a:prstGeom>
          <a:solidFill>
            <a:schemeClr val="bg1"/>
          </a:solidFill>
          <a:ln w="12700">
            <a:solidFill>
              <a:schemeClr val="accent1"/>
            </a:solidFill>
            <a:prstDash val="solid"/>
          </a:ln>
        </p:spPr>
      </p:sp>
      <p:sp>
        <p:nvSpPr>
          <p:cNvPr id="25" name="text-62"/>
          <p:cNvSpPr txBox="1"/>
          <p:nvPr/>
        </p:nvSpPr>
        <p:spPr>
          <a:xfrm>
            <a:off x="8531352" y="3511296"/>
            <a:ext cx="31455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Artifact Registry</a:t>
            </a:r>
            <a:endParaRPr lang="en-US" sz="1300" dirty="0"/>
          </a:p>
          <a:p>
            <a:pPr algn="l" indent="0" marL="0">
              <a:buNone/>
            </a:pPr>
            <a:r>
              <a:rPr lang="en-US" sz="1100" dirty="0">
                <a:solidFill>
                  <a:schemeClr val="tx2"/>
                </a:solidFill>
              </a:rPr>
              <a:t>artifactregistry.reader on the repo only</a:t>
            </a:r>
            <a:endParaRPr lang="en-US" sz="1300" dirty="0"/>
          </a:p>
        </p:txBody>
      </p:sp>
      <p:sp>
        <p:nvSpPr>
          <p:cNvPr id="26" name="arrow-63"/>
          <p:cNvSpPr/>
          <p:nvPr/>
        </p:nvSpPr>
        <p:spPr>
          <a:xfrm>
            <a:off x="7909560" y="2212848"/>
            <a:ext cx="548640" cy="1609344"/>
          </a:xfrm>
          <a:prstGeom prst="line">
            <a:avLst/>
          </a:prstGeom>
          <a:noFill/>
          <a:ln w="13970">
            <a:solidFill>
              <a:schemeClr val="accent1"/>
            </a:solidFill>
            <a:prstDash val="solid"/>
            <a:tailEnd type="triangle"/>
          </a:ln>
        </p:spPr>
      </p:sp>
      <p:sp>
        <p:nvSpPr>
          <p:cNvPr id="27" name="shape-64"/>
          <p:cNvSpPr/>
          <p:nvPr/>
        </p:nvSpPr>
        <p:spPr>
          <a:xfrm>
            <a:off x="8458200" y="4398264"/>
            <a:ext cx="3291840" cy="713232"/>
          </a:xfrm>
          <a:prstGeom prst="roundRect">
            <a:avLst>
              <a:gd name="adj" fmla="val 10256"/>
            </a:avLst>
          </a:prstGeom>
          <a:solidFill>
            <a:schemeClr val="bg1"/>
          </a:solidFill>
          <a:ln w="12700">
            <a:solidFill>
              <a:schemeClr val="accent1"/>
            </a:solidFill>
            <a:prstDash val="solid"/>
          </a:ln>
        </p:spPr>
      </p:sp>
      <p:sp>
        <p:nvSpPr>
          <p:cNvPr id="28" name="text-65"/>
          <p:cNvSpPr txBox="1"/>
          <p:nvPr/>
        </p:nvSpPr>
        <p:spPr>
          <a:xfrm>
            <a:off x="8531352" y="4443984"/>
            <a:ext cx="3145536" cy="640080"/>
          </a:xfrm>
          <a:prstGeom prst="rect">
            <a:avLst/>
          </a:prstGeom>
          <a:noFill/>
          <a:ln/>
        </p:spPr>
        <p:txBody>
          <a:bodyPr wrap="square" lIns="762" tIns="762" rIns="762" bIns="762" rtlCol="0" anchor="t"/>
          <a:lstStyle/>
          <a:p>
            <a:pPr algn="l" indent="0" marL="0">
              <a:buNone/>
            </a:pPr>
            <a:r>
              <a:rPr lang="en-US" sz="1300" b="1" dirty="0">
                <a:solidFill>
                  <a:schemeClr val="accent1"/>
                </a:solidFill>
              </a:rPr>
              <a:t>Logging · Monitoring</a:t>
            </a:r>
            <a:endParaRPr lang="en-US" sz="1300" dirty="0"/>
          </a:p>
          <a:p>
            <a:pPr algn="l" indent="0" marL="0">
              <a:buNone/>
            </a:pPr>
            <a:r>
              <a:rPr lang="en-US" sz="1100" dirty="0">
                <a:solidFill>
                  <a:schemeClr val="tx2"/>
                </a:solidFill>
              </a:rPr>
              <a:t>logWriter, metricWriter (project)</a:t>
            </a:r>
            <a:endParaRPr lang="en-US" sz="1300" dirty="0"/>
          </a:p>
        </p:txBody>
      </p:sp>
      <p:sp>
        <p:nvSpPr>
          <p:cNvPr id="29" name="arrow-66"/>
          <p:cNvSpPr/>
          <p:nvPr/>
        </p:nvSpPr>
        <p:spPr>
          <a:xfrm>
            <a:off x="7909560" y="2212848"/>
            <a:ext cx="548640" cy="2542032"/>
          </a:xfrm>
          <a:prstGeom prst="line">
            <a:avLst/>
          </a:prstGeom>
          <a:noFill/>
          <a:ln w="13970">
            <a:solidFill>
              <a:schemeClr val="accent1"/>
            </a:solidFill>
            <a:prstDash val="solid"/>
            <a:tailEnd type="triangle"/>
          </a:ln>
        </p:spPr>
      </p:sp>
      <p:sp>
        <p:nvSpPr>
          <p:cNvPr id="30" name="shape-67"/>
          <p:cNvSpPr/>
          <p:nvPr/>
        </p:nvSpPr>
        <p:spPr>
          <a:xfrm>
            <a:off x="8458200" y="5394960"/>
            <a:ext cx="3291840" cy="822960"/>
          </a:xfrm>
          <a:prstGeom prst="roundRect">
            <a:avLst>
              <a:gd name="adj" fmla="val 8889"/>
            </a:avLst>
          </a:prstGeom>
          <a:solidFill>
            <a:schemeClr val="accent5"/>
          </a:solidFill>
          <a:ln w="12700">
            <a:solidFill>
              <a:schemeClr val="accent5"/>
            </a:solidFill>
            <a:prstDash val="solid"/>
          </a:ln>
        </p:spPr>
      </p:sp>
      <p:sp>
        <p:nvSpPr>
          <p:cNvPr id="31" name="text-68"/>
          <p:cNvSpPr txBox="1"/>
          <p:nvPr/>
        </p:nvSpPr>
        <p:spPr>
          <a:xfrm>
            <a:off x="8531352" y="5440680"/>
            <a:ext cx="3154680" cy="731520"/>
          </a:xfrm>
          <a:prstGeom prst="rect">
            <a:avLst/>
          </a:prstGeom>
          <a:noFill/>
          <a:ln/>
        </p:spPr>
        <p:txBody>
          <a:bodyPr wrap="square" lIns="762" tIns="762" rIns="762" bIns="762" rtlCol="0" anchor="ctr"/>
          <a:lstStyle/>
          <a:p>
            <a:pPr algn="l" indent="0" marL="0">
              <a:buNone/>
            </a:pPr>
            <a:r>
              <a:rPr lang="en-US" sz="1100" b="1" dirty="0">
                <a:solidFill>
                  <a:schemeClr val="accent2"/>
                </a:solidFill>
              </a:rPr>
              <a:t>Not granted: </a:t>
            </a:r>
            <a:pPr algn="l" indent="0" marL="0">
              <a:buNone/>
            </a:pPr>
            <a:r>
              <a:rPr lang="en-US" sz="1100" dirty="0">
                <a:solidFill>
                  <a:schemeClr val="tx1"/>
                </a:solidFill>
              </a:rPr>
              <a:t>project Editor, any Cloud SQL role, db-admin-password</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Mahokshahvata M4">
  <a:themeElements>
    <a:clrScheme name="Mahokshahvata M4">
      <a:dk1>
        <a:srgbClr val="1F2933"/>
      </a:dk1>
      <a:lt1>
        <a:srgbClr val="FFFFFF"/>
      </a:lt1>
      <a:dk2>
        <a:srgbClr val="3E4C59"/>
      </a:dk2>
      <a:lt2>
        <a:srgbClr val="F2F4F6"/>
      </a:lt2>
      <a:accent1>
        <a:srgbClr val="0F766E"/>
      </a:accent1>
      <a:accent2>
        <a:srgbClr val="C2410C"/>
      </a:accent2>
      <a:accent3>
        <a:srgbClr val="334E68"/>
      </a:accent3>
      <a:accent4>
        <a:srgbClr val="CCE7E4"/>
      </a:accent4>
      <a:accent5>
        <a:srgbClr val="FBE3D6"/>
      </a:accent5>
      <a:accent6>
        <a:srgbClr val="DDE3EA"/>
      </a:accent6>
      <a:hlink>
        <a:srgbClr val="0F766E"/>
      </a:hlink>
      <a:folHlink>
        <a:srgbClr val="334E68"/>
      </a:folHlink>
    </a:clrScheme>
    <a:fontScheme name="Mahokshahvata M4">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Milestone 4: State out of the VM</dc:title>
  <dc:subject>PptxGenJS Presentation</dc:subject>
  <dc:creator>Mahokshahvata team</dc:creator>
  <cp:lastModifiedBy>Mahokshahvata team</cp:lastModifiedBy>
  <cp:revision>1</cp:revision>
  <dcterms:created xsi:type="dcterms:W3CDTF">2026-10-18T06:24:46Z</dcterms:created>
  <dcterms:modified xsi:type="dcterms:W3CDTF">2026-10-18T06:24:46Z</dcterms:modified>
</cp:coreProperties>
</file>