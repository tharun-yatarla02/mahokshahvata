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Traffic enters at a global HTTPS load balancer on a reserved static IP, with a Google-managed certificate for 34-8-137-93.sslip.io. Port 80 only redirects to https. The GKE Ingress configures it; its health check is GET /ready, and connections drain for 30 seconds. The Service uses container-native load balancing, so traffic goes straight to pod IPs. The Deployment runs 2 replicas spread across nodes; the HPA scales 2 to 4 on CPU, and the PodDisruptionBudget keeps at least one up during node drains. Pods hold no state: Cloud SQL on a private IP, the bucket, and Secret Manager, reached as the nodes' service account, with no key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Liveness answers one question: is this process stuck? Only a restart fixes that, so it checks nothing but the process itself. Readiness answers: can this pod serve a real request right now? That includes the database, but the fix for a missing database is to stop sending traffic, not to restart. The startup probe gives the slow start up to 5 minutes before liveness counts. The load balancer's own health check uses /ready as well, so a pod that loses the database stops getting traffic from outside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5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Mahokshahvata · Milestone 5 · GKE cluster mahokshahvata · us-central1-a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Orchestration topology: request to data</a:t>
            </a:r>
            <a:endParaRPr lang="en-US" sz="3600" dirty="0"/>
          </a:p>
        </p:txBody>
      </p:sp>
      <p:sp>
        <p:nvSpPr>
          <p:cNvPr id="3" name="Browser box"/>
          <p:cNvSpPr/>
          <p:nvPr/>
        </p:nvSpPr>
        <p:spPr>
          <a:xfrm>
            <a:off x="457200" y="2788920"/>
            <a:ext cx="1463040" cy="9144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4" name="Browser text"/>
          <p:cNvSpPr txBox="1"/>
          <p:nvPr/>
        </p:nvSpPr>
        <p:spPr>
          <a:xfrm>
            <a:off x="566928" y="2843784"/>
            <a:ext cx="12435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Browser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https://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34-8-137-93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.sslip.io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920240" y="3246120"/>
            <a:ext cx="411480" cy="0"/>
          </a:xfrm>
          <a:prstGeom prst="line">
            <a:avLst/>
          </a:prstGeom>
          <a:noFill/>
          <a:ln w="22225">
            <a:solidFill>
              <a:srgbClr val="00897B"/>
            </a:solidFill>
            <a:prstDash val="solid"/>
            <a:tailEnd type="triangle"/>
          </a:ln>
        </p:spPr>
      </p:sp>
      <p:sp>
        <p:nvSpPr>
          <p:cNvPr id="6" name="LB box"/>
          <p:cNvSpPr/>
          <p:nvPr/>
        </p:nvSpPr>
        <p:spPr>
          <a:xfrm>
            <a:off x="2331720" y="2377440"/>
            <a:ext cx="1920240" cy="173736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" name="LB text"/>
          <p:cNvSpPr txBox="1"/>
          <p:nvPr/>
        </p:nvSpPr>
        <p:spPr>
          <a:xfrm>
            <a:off x="2441448" y="2432304"/>
            <a:ext cx="170078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Global HTTPS load balancer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static IP 34.8.137.93 · Google-managed cert (Active) · :80 → 301 https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51960" y="3246120"/>
            <a:ext cx="365760" cy="0"/>
          </a:xfrm>
          <a:prstGeom prst="line">
            <a:avLst/>
          </a:prstGeom>
          <a:noFill/>
          <a:ln w="22225">
            <a:solidFill>
              <a:srgbClr val="00897B"/>
            </a:solidFill>
            <a:prstDash val="solid"/>
            <a:tailEnd type="triangle"/>
          </a:ln>
        </p:spPr>
      </p:sp>
      <p:sp>
        <p:nvSpPr>
          <p:cNvPr id="9" name="Ingress box"/>
          <p:cNvSpPr/>
          <p:nvPr/>
        </p:nvSpPr>
        <p:spPr>
          <a:xfrm>
            <a:off x="4617720" y="2377440"/>
            <a:ext cx="1600200" cy="1737360"/>
          </a:xfrm>
          <a:prstGeom prst="roundRect">
            <a:avLst>
              <a:gd name="adj" fmla="val 3429"/>
            </a:avLst>
          </a:prstGeom>
          <a:solidFill>
            <a:schemeClr val="accent4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10" name="Ingress text"/>
          <p:cNvSpPr txBox="1"/>
          <p:nvPr/>
        </p:nvSpPr>
        <p:spPr>
          <a:xfrm>
            <a:off x="4727448" y="2432304"/>
            <a:ext cx="138074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Ingress app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health check /ready · 30 s drain · http→https redirect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3246120"/>
            <a:ext cx="320040" cy="0"/>
          </a:xfrm>
          <a:prstGeom prst="line">
            <a:avLst/>
          </a:prstGeom>
          <a:noFill/>
          <a:ln w="22225">
            <a:solidFill>
              <a:srgbClr val="00897B"/>
            </a:solidFill>
            <a:prstDash val="solid"/>
            <a:tailEnd type="triangle"/>
          </a:ln>
        </p:spPr>
      </p:sp>
      <p:sp>
        <p:nvSpPr>
          <p:cNvPr id="12" name="Service box"/>
          <p:cNvSpPr/>
          <p:nvPr/>
        </p:nvSpPr>
        <p:spPr>
          <a:xfrm>
            <a:off x="6537960" y="2697480"/>
            <a:ext cx="1325880" cy="1097280"/>
          </a:xfrm>
          <a:prstGeom prst="roundRect">
            <a:avLst>
              <a:gd name="adj" fmla="val 5000"/>
            </a:avLst>
          </a:prstGeom>
          <a:solidFill>
            <a:schemeClr val="accent4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13" name="Service text"/>
          <p:cNvSpPr txBox="1"/>
          <p:nvPr/>
        </p:nvSpPr>
        <p:spPr>
          <a:xfrm>
            <a:off x="6647688" y="2752344"/>
            <a:ext cx="110642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Service app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ClusterIP + NEG: LB → pod IPs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863840" y="3246120"/>
            <a:ext cx="320040" cy="0"/>
          </a:xfrm>
          <a:prstGeom prst="line">
            <a:avLst/>
          </a:prstGeom>
          <a:noFill/>
          <a:ln w="22225">
            <a:solidFill>
              <a:srgbClr val="00897B"/>
            </a:solidFill>
            <a:prstDash val="solid"/>
            <a:tailEnd type="triangle"/>
          </a:ln>
        </p:spPr>
      </p:sp>
      <p:sp>
        <p:nvSpPr>
          <p:cNvPr id="15" name="cluster"/>
          <p:cNvSpPr/>
          <p:nvPr/>
        </p:nvSpPr>
        <p:spPr>
          <a:xfrm>
            <a:off x="8183880" y="1325880"/>
            <a:ext cx="1965960" cy="384048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8275320" y="13716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Deployment app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image app:v6 · 2 e2-medium nodes (autoscale to 3)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321040" y="2194560"/>
            <a:ext cx="1691640" cy="4572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0" y="2194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pod 1 · node 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21040" y="2761488"/>
            <a:ext cx="1691640" cy="4572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27614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pod 2 · node 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21040" y="3328416"/>
            <a:ext cx="1691640" cy="4572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rgbClr val="5B6B7B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8321040" y="332841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pod 3, 4 · under load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40233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HPA 2–4 · CPU 60%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PDB minAvailable 1</a:t>
            </a:r>
            <a:endParaRPr lang="en-US" sz="1100" dirty="0"/>
          </a:p>
        </p:txBody>
      </p:sp>
      <p:sp>
        <p:nvSpPr>
          <p:cNvPr id="24" name="Cloud SQL box"/>
          <p:cNvSpPr/>
          <p:nvPr/>
        </p:nvSpPr>
        <p:spPr>
          <a:xfrm>
            <a:off x="10469880" y="1325880"/>
            <a:ext cx="1280160" cy="8686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5" name="Cloud SQL text"/>
          <p:cNvSpPr txBox="1"/>
          <p:nvPr/>
        </p:nvSpPr>
        <p:spPr>
          <a:xfrm>
            <a:off x="10579608" y="1380744"/>
            <a:ext cx="10607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Cloud SQL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Postgres 16 · private IP 10.27.48.3 · TLS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0149840" y="1755648"/>
            <a:ext cx="320040" cy="0"/>
          </a:xfrm>
          <a:prstGeom prst="line">
            <a:avLst/>
          </a:prstGeom>
          <a:noFill/>
          <a:ln w="22225">
            <a:solidFill>
              <a:srgbClr val="00897B"/>
            </a:solidFill>
            <a:prstDash val="solid"/>
            <a:tailEnd type="triangle"/>
          </a:ln>
        </p:spPr>
      </p:sp>
      <p:sp>
        <p:nvSpPr>
          <p:cNvPr id="27" name="Cloud Storage box"/>
          <p:cNvSpPr/>
          <p:nvPr/>
        </p:nvSpPr>
        <p:spPr>
          <a:xfrm>
            <a:off x="10469880" y="2304288"/>
            <a:ext cx="1280160" cy="8686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8" name="Cloud Storage text"/>
          <p:cNvSpPr txBox="1"/>
          <p:nvPr/>
        </p:nvSpPr>
        <p:spPr>
          <a:xfrm>
            <a:off x="10579608" y="2359152"/>
            <a:ext cx="10607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Cloud Storage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photos · market cache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0149840" y="2734056"/>
            <a:ext cx="320040" cy="0"/>
          </a:xfrm>
          <a:prstGeom prst="line">
            <a:avLst/>
          </a:prstGeom>
          <a:noFill/>
          <a:ln w="22225">
            <a:solidFill>
              <a:srgbClr val="00897B"/>
            </a:solidFill>
            <a:prstDash val="solid"/>
            <a:tailEnd type="triangle"/>
          </a:ln>
        </p:spPr>
      </p:sp>
      <p:sp>
        <p:nvSpPr>
          <p:cNvPr id="30" name="Secret Manager box"/>
          <p:cNvSpPr/>
          <p:nvPr/>
        </p:nvSpPr>
        <p:spPr>
          <a:xfrm>
            <a:off x="10469880" y="3282696"/>
            <a:ext cx="1280160" cy="8686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1" name="Secret Manager text"/>
          <p:cNvSpPr txBox="1"/>
          <p:nvPr/>
        </p:nvSpPr>
        <p:spPr>
          <a:xfrm>
            <a:off x="10579608" y="3337560"/>
            <a:ext cx="10607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Secret Manager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db-password · API key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0149840" y="3712464"/>
            <a:ext cx="320040" cy="0"/>
          </a:xfrm>
          <a:prstGeom prst="line">
            <a:avLst/>
          </a:prstGeom>
          <a:noFill/>
          <a:ln w="22225">
            <a:solidFill>
              <a:srgbClr val="00897B"/>
            </a:solidFill>
            <a:prstDash val="solid"/>
            <a:tailEnd type="triangle"/>
          </a:ln>
        </p:spPr>
      </p:sp>
      <p:sp>
        <p:nvSpPr>
          <p:cNvPr id="33" name="Artifact Registry box"/>
          <p:cNvSpPr/>
          <p:nvPr/>
        </p:nvSpPr>
        <p:spPr>
          <a:xfrm>
            <a:off x="10469880" y="4261104"/>
            <a:ext cx="1280160" cy="86868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4" name="Artifact Registry text"/>
          <p:cNvSpPr txBox="1"/>
          <p:nvPr/>
        </p:nvSpPr>
        <p:spPr>
          <a:xfrm>
            <a:off x="10579608" y="4315968"/>
            <a:ext cx="10607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Artifact Registry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app:v6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0149840" y="4690872"/>
            <a:ext cx="320040" cy="0"/>
          </a:xfrm>
          <a:prstGeom prst="line">
            <a:avLst/>
          </a:prstGeom>
          <a:noFill/>
          <a:ln w="22225">
            <a:solidFill>
              <a:srgbClr val="00897B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457200" y="44348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Nodes run as service account mahokshahvata-vm: no key files, no new IAM bindings. VPC-native, so pods reach Cloud SQL over private services peering.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5303520"/>
            <a:ext cx="3611880" cy="914400"/>
          </a:xfrm>
          <a:prstGeom prst="roundRect">
            <a:avLst>
              <a:gd name="adj" fmla="val 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0080" y="53035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 → 4</a:t>
            </a:r>
            <a:endParaRPr lang="en-US" sz="3200" dirty="0"/>
          </a:p>
        </p:txBody>
      </p:sp>
      <p:sp>
        <p:nvSpPr>
          <p:cNvPr id="39" name="Text 37"/>
          <p:cNvSpPr txBox="1"/>
          <p:nvPr/>
        </p:nvSpPr>
        <p:spPr>
          <a:xfrm>
            <a:off x="2377440" y="53035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replicas under load, back to 2 when it stopped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288536" y="5303520"/>
            <a:ext cx="3611880" cy="914400"/>
          </a:xfrm>
          <a:prstGeom prst="roundRect">
            <a:avLst>
              <a:gd name="adj" fmla="val 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471416" y="53035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~19 s</a:t>
            </a:r>
            <a:endParaRPr lang="en-US" sz="3200" dirty="0"/>
          </a:p>
        </p:txBody>
      </p:sp>
      <p:sp>
        <p:nvSpPr>
          <p:cNvPr id="42" name="Text 40"/>
          <p:cNvSpPr txBox="1"/>
          <p:nvPr/>
        </p:nvSpPr>
        <p:spPr>
          <a:xfrm>
            <a:off x="6208776" y="53035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deleted pod replaced and Ready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8119872" y="5303520"/>
            <a:ext cx="3611880" cy="914400"/>
          </a:xfrm>
          <a:prstGeom prst="roundRect">
            <a:avLst>
              <a:gd name="adj" fmla="val 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302752" y="53035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301</a:t>
            </a:r>
            <a:endParaRPr lang="en-US" sz="3200" dirty="0"/>
          </a:p>
        </p:txBody>
      </p:sp>
      <p:sp>
        <p:nvSpPr>
          <p:cNvPr id="45" name="Text 43"/>
          <p:cNvSpPr txBox="1"/>
          <p:nvPr/>
        </p:nvSpPr>
        <p:spPr>
          <a:xfrm>
            <a:off x="10040112" y="53035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http:// answers with a redirect to https://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Health probes: alive is not the same as ready</a:t>
            </a:r>
            <a:endParaRPr lang="en-US" sz="3600" dirty="0"/>
          </a:p>
        </p:txBody>
      </p:sp>
      <p:sp>
        <p:nvSpPr>
          <p:cNvPr id="3" name="Startup card"/>
          <p:cNvSpPr/>
          <p:nvPr/>
        </p:nvSpPr>
        <p:spPr>
          <a:xfrm>
            <a:off x="457200" y="1280160"/>
            <a:ext cx="3611880" cy="2148840"/>
          </a:xfrm>
          <a:prstGeom prst="roundRect">
            <a:avLst>
              <a:gd name="adj" fmla="val 2553"/>
            </a:avLst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4" name="Startup text"/>
          <p:cNvSpPr txBox="1"/>
          <p:nvPr/>
        </p:nvSpPr>
        <p:spPr>
          <a:xfrm>
            <a:off x="621792" y="1389888"/>
            <a:ext cx="32826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Startup</a:t>
            </a:r>
            <a:endParaRPr lang="en-US" sz="22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/health</a:t>
            </a:r>
            <a:endParaRPr lang="en-US" sz="2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Checks: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Has the process finished its 60–90 s start (pandas import, market snapshot)?</a:t>
            </a:r>
            <a:endParaRPr lang="en-US" sz="2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On failure: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Holds off the other probes for up to 5 min</a:t>
            </a:r>
            <a:endParaRPr lang="en-US" sz="2200" dirty="0"/>
          </a:p>
        </p:txBody>
      </p:sp>
      <p:sp>
        <p:nvSpPr>
          <p:cNvPr id="5" name="Liveness card"/>
          <p:cNvSpPr/>
          <p:nvPr/>
        </p:nvSpPr>
        <p:spPr>
          <a:xfrm>
            <a:off x="4288536" y="1280160"/>
            <a:ext cx="3611880" cy="2148840"/>
          </a:xfrm>
          <a:prstGeom prst="roundRect">
            <a:avLst>
              <a:gd name="adj" fmla="val 2553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6" name="Liveness text"/>
          <p:cNvSpPr txBox="1"/>
          <p:nvPr/>
        </p:nvSpPr>
        <p:spPr>
          <a:xfrm>
            <a:off x="4453128" y="1389888"/>
            <a:ext cx="32826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Liveness</a:t>
            </a:r>
            <a:endParaRPr lang="en-US" sz="22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/health</a:t>
            </a:r>
            <a:endParaRPr lang="en-US" sz="2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Checks: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Does the process answer HTTP? No database check.</a:t>
            </a:r>
            <a:endParaRPr lang="en-US" sz="2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On failure: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Container restarted (3 misses, 15 s apart)</a:t>
            </a:r>
            <a:endParaRPr lang="en-US" sz="2200" dirty="0"/>
          </a:p>
        </p:txBody>
      </p:sp>
      <p:sp>
        <p:nvSpPr>
          <p:cNvPr id="7" name="Readiness card"/>
          <p:cNvSpPr/>
          <p:nvPr/>
        </p:nvSpPr>
        <p:spPr>
          <a:xfrm>
            <a:off x="8119872" y="1280160"/>
            <a:ext cx="3611880" cy="2148840"/>
          </a:xfrm>
          <a:prstGeom prst="roundRect">
            <a:avLst>
              <a:gd name="adj" fmla="val 2553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Readiness text"/>
          <p:cNvSpPr txBox="1"/>
          <p:nvPr/>
        </p:nvSpPr>
        <p:spPr>
          <a:xfrm>
            <a:off x="8284464" y="1389888"/>
            <a:ext cx="32826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Readiness</a:t>
            </a:r>
            <a:endParaRPr lang="en-US" sz="22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/ready</a:t>
            </a:r>
            <a:endParaRPr lang="en-US" sz="2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Checks: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Does it answer and does Cloud SQL run SELECT 1? Own connection, 2 s timeout.</a:t>
            </a:r>
            <a:endParaRPr lang="en-US" sz="2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On failure: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Pod leaves the Service and the load balancer. Nothing restarts.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7947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Why they differ: Cloud SQL drops for 30 s (e.g. maintenance)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4297680"/>
            <a:ext cx="5532120" cy="1600200"/>
          </a:xfrm>
          <a:prstGeom prst="roundRect">
            <a:avLst>
              <a:gd name="adj" fmla="val 342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4434840"/>
            <a:ext cx="5166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2"/>
                </a:solidFill>
              </a:rPr>
              <a:t>If liveness checked the database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Every pod fails at once, Kubernetes restarts all of them, and each needs 60–90 s to come back: a 30 s blip becomes a 2‑minute outage.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199632" y="4297680"/>
            <a:ext cx="5532120" cy="1600200"/>
          </a:xfrm>
          <a:prstGeom prst="roundRect">
            <a:avLst>
              <a:gd name="adj" fmla="val 34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82512" y="4434840"/>
            <a:ext cx="5166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With liveness and readiness split (ours)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Pods stay running and only drop out of the load balancer; they rejoin within ~10 s of the database answering. A stuck process still gets restarted by liveness.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hokshahvata M5">
  <a:themeElements>
    <a:clrScheme name="Mahokshahvata M5">
      <a:dk1>
        <a:srgbClr val="1F2D3A"/>
      </a:dk1>
      <a:lt1>
        <a:srgbClr val="FFFFFF"/>
      </a:lt1>
      <a:dk2>
        <a:srgbClr val="3B5068"/>
      </a:dk2>
      <a:lt2>
        <a:srgbClr val="F3F5F7"/>
      </a:lt2>
      <a:accent1>
        <a:srgbClr val="00897B"/>
      </a:accent1>
      <a:accent2>
        <a:srgbClr val="C1440E"/>
      </a:accent2>
      <a:accent3>
        <a:srgbClr val="D5EBE8"/>
      </a:accent3>
      <a:accent4>
        <a:srgbClr val="E4E9EE"/>
      </a:accent4>
      <a:accent5>
        <a:srgbClr val="5B6B7B"/>
      </a:accent5>
      <a:accent6>
        <a:srgbClr val="FBE3D6"/>
      </a:accent6>
      <a:hlink>
        <a:srgbClr val="00897B"/>
      </a:hlink>
      <a:folHlink>
        <a:srgbClr val="3B5068"/>
      </a:folHlink>
    </a:clrScheme>
    <a:fontScheme name="Mahokshahvata M5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mbr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2026-10-24T19:31:24Z</dcterms:created>
  <dcterms:modified xsi:type="dcterms:W3CDTF">2026-10-24T19:31:24Z</dcterms:modified>
</cp:coreProperties>
</file>